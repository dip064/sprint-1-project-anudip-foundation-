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66" r:id="rId3"/>
    <p:sldId id="267" r:id="rId4"/>
    <p:sldId id="268" r:id="rId5"/>
    <p:sldId id="290" r:id="rId6"/>
    <p:sldId id="269" r:id="rId7"/>
    <p:sldId id="283" r:id="rId8"/>
    <p:sldId id="270" r:id="rId9"/>
    <p:sldId id="271" r:id="rId10"/>
    <p:sldId id="284" r:id="rId11"/>
    <p:sldId id="288" r:id="rId12"/>
    <p:sldId id="287" r:id="rId13"/>
    <p:sldId id="272" r:id="rId14"/>
    <p:sldId id="285" r:id="rId15"/>
    <p:sldId id="279" r:id="rId16"/>
    <p:sldId id="289" r:id="rId17"/>
    <p:sldId id="273" r:id="rId18"/>
    <p:sldId id="286" r:id="rId19"/>
    <p:sldId id="275" r:id="rId20"/>
    <p:sldId id="291" r:id="rId21"/>
    <p:sldId id="276" r:id="rId22"/>
    <p:sldId id="292" r:id="rId23"/>
    <p:sldId id="277" r:id="rId24"/>
    <p:sldId id="293" r:id="rId25"/>
    <p:sldId id="278" r:id="rId26"/>
    <p:sldId id="280" r:id="rId27"/>
    <p:sldId id="281" r:id="rId28"/>
    <p:sldId id="282" r:id="rId29"/>
    <p:sldId id="26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RAN PARUA" userId="7798602da82a403b" providerId="LiveId" clId="{8DDD3119-D66A-4929-8517-2587BAD1863A}"/>
    <pc:docChg chg="undo custSel addSld delSld modSld">
      <pc:chgData name="SAMIRAN PARUA" userId="7798602da82a403b" providerId="LiveId" clId="{8DDD3119-D66A-4929-8517-2587BAD1863A}" dt="2026-07-06T10:41:02.938" v="3547" actId="20577"/>
      <pc:docMkLst>
        <pc:docMk/>
      </pc:docMkLst>
      <pc:sldChg chg="modSp mod">
        <pc:chgData name="SAMIRAN PARUA" userId="7798602da82a403b" providerId="LiveId" clId="{8DDD3119-D66A-4929-8517-2587BAD1863A}" dt="2026-07-01T09:27:56.573" v="3443" actId="20577"/>
        <pc:sldMkLst>
          <pc:docMk/>
          <pc:sldMk cId="3816259214" sldId="256"/>
        </pc:sldMkLst>
        <pc:spChg chg="mod">
          <ac:chgData name="SAMIRAN PARUA" userId="7798602da82a403b" providerId="LiveId" clId="{8DDD3119-D66A-4929-8517-2587BAD1863A}" dt="2026-07-01T09:27:56.573" v="3443" actId="20577"/>
          <ac:spMkLst>
            <pc:docMk/>
            <pc:sldMk cId="3816259214" sldId="256"/>
            <ac:spMk id="3" creationId="{F323D939-97A6-A98C-E3E1-F5A7A401B109}"/>
          </ac:spMkLst>
        </pc:spChg>
      </pc:sldChg>
      <pc:sldChg chg="addSp delSp modSp mod modClrScheme chgLayout">
        <pc:chgData name="SAMIRAN PARUA" userId="7798602da82a403b" providerId="LiveId" clId="{8DDD3119-D66A-4929-8517-2587BAD1863A}" dt="2026-07-01T09:30:07.174" v="3487" actId="255"/>
        <pc:sldMkLst>
          <pc:docMk/>
          <pc:sldMk cId="148474677" sldId="265"/>
        </pc:sldMkLst>
        <pc:spChg chg="add mod ord">
          <ac:chgData name="SAMIRAN PARUA" userId="7798602da82a403b" providerId="LiveId" clId="{8DDD3119-D66A-4929-8517-2587BAD1863A}" dt="2026-07-01T09:30:07.174" v="3487" actId="255"/>
          <ac:spMkLst>
            <pc:docMk/>
            <pc:sldMk cId="148474677" sldId="265"/>
            <ac:spMk id="4" creationId="{93A6DB50-1F91-357D-BBD6-73D5AAC70C9D}"/>
          </ac:spMkLst>
        </pc:spChg>
      </pc:sldChg>
      <pc:sldChg chg="modSp mod">
        <pc:chgData name="SAMIRAN PARUA" userId="7798602da82a403b" providerId="LiveId" clId="{8DDD3119-D66A-4929-8517-2587BAD1863A}" dt="2026-07-03T04:14:10.586" v="3488" actId="14100"/>
        <pc:sldMkLst>
          <pc:docMk/>
          <pc:sldMk cId="2542918574" sldId="283"/>
        </pc:sldMkLst>
        <pc:picChg chg="mod">
          <ac:chgData name="SAMIRAN PARUA" userId="7798602da82a403b" providerId="LiveId" clId="{8DDD3119-D66A-4929-8517-2587BAD1863A}" dt="2026-07-03T04:14:10.586" v="3488" actId="14100"/>
          <ac:picMkLst>
            <pc:docMk/>
            <pc:sldMk cId="2542918574" sldId="283"/>
            <ac:picMk id="4" creationId="{C78D07D6-B9B9-A3B6-025B-E23702D649E9}"/>
          </ac:picMkLst>
        </pc:picChg>
      </pc:sldChg>
      <pc:sldChg chg="modSp mod">
        <pc:chgData name="SAMIRAN PARUA" userId="7798602da82a403b" providerId="LiveId" clId="{8DDD3119-D66A-4929-8517-2587BAD1863A}" dt="2026-07-03T04:14:25.424" v="3489" actId="14100"/>
        <pc:sldMkLst>
          <pc:docMk/>
          <pc:sldMk cId="2341947781" sldId="284"/>
        </pc:sldMkLst>
        <pc:picChg chg="mod">
          <ac:chgData name="SAMIRAN PARUA" userId="7798602da82a403b" providerId="LiveId" clId="{8DDD3119-D66A-4929-8517-2587BAD1863A}" dt="2026-07-03T04:14:25.424" v="3489" actId="14100"/>
          <ac:picMkLst>
            <pc:docMk/>
            <pc:sldMk cId="2341947781" sldId="284"/>
            <ac:picMk id="4" creationId="{47373511-CD2D-B5DA-6D87-3F5644B79681}"/>
          </ac:picMkLst>
        </pc:picChg>
      </pc:sldChg>
      <pc:sldChg chg="modSp mod">
        <pc:chgData name="SAMIRAN PARUA" userId="7798602da82a403b" providerId="LiveId" clId="{8DDD3119-D66A-4929-8517-2587BAD1863A}" dt="2026-07-03T04:14:35.777" v="3490" actId="14100"/>
        <pc:sldMkLst>
          <pc:docMk/>
          <pc:sldMk cId="3668686911" sldId="287"/>
        </pc:sldMkLst>
        <pc:picChg chg="mod">
          <ac:chgData name="SAMIRAN PARUA" userId="7798602da82a403b" providerId="LiveId" clId="{8DDD3119-D66A-4929-8517-2587BAD1863A}" dt="2026-07-03T04:14:35.777" v="3490" actId="14100"/>
          <ac:picMkLst>
            <pc:docMk/>
            <pc:sldMk cId="3668686911" sldId="287"/>
            <ac:picMk id="4" creationId="{D930D250-492D-36CF-5038-2CE4FCDFD72C}"/>
          </ac:picMkLst>
        </pc:picChg>
      </pc:sldChg>
      <pc:sldChg chg="addSp modSp new mod">
        <pc:chgData name="SAMIRAN PARUA" userId="7798602da82a403b" providerId="LiveId" clId="{8DDD3119-D66A-4929-8517-2587BAD1863A}" dt="2026-07-06T10:40:50.364" v="3519" actId="20577"/>
        <pc:sldMkLst>
          <pc:docMk/>
          <pc:sldMk cId="3684657339" sldId="291"/>
        </pc:sldMkLst>
        <pc:spChg chg="mod">
          <ac:chgData name="SAMIRAN PARUA" userId="7798602da82a403b" providerId="LiveId" clId="{8DDD3119-D66A-4929-8517-2587BAD1863A}" dt="2026-07-06T10:40:50.364" v="3519" actId="20577"/>
          <ac:spMkLst>
            <pc:docMk/>
            <pc:sldMk cId="3684657339" sldId="291"/>
            <ac:spMk id="2" creationId="{CDD48155-60A9-D054-5600-F699EB50826D}"/>
          </ac:spMkLst>
        </pc:spChg>
        <pc:picChg chg="add mod">
          <ac:chgData name="SAMIRAN PARUA" userId="7798602da82a403b" providerId="LiveId" clId="{8DDD3119-D66A-4929-8517-2587BAD1863A}" dt="2026-07-06T10:38:29.758" v="3494" actId="14100"/>
          <ac:picMkLst>
            <pc:docMk/>
            <pc:sldMk cId="3684657339" sldId="291"/>
            <ac:picMk id="4" creationId="{834A1511-582F-108D-836D-4C9B13D402FC}"/>
          </ac:picMkLst>
        </pc:picChg>
      </pc:sldChg>
      <pc:sldChg chg="addSp modSp new mod">
        <pc:chgData name="SAMIRAN PARUA" userId="7798602da82a403b" providerId="LiveId" clId="{8DDD3119-D66A-4929-8517-2587BAD1863A}" dt="2026-07-06T10:40:57.248" v="3533" actId="20577"/>
        <pc:sldMkLst>
          <pc:docMk/>
          <pc:sldMk cId="1086364619" sldId="292"/>
        </pc:sldMkLst>
        <pc:spChg chg="mod">
          <ac:chgData name="SAMIRAN PARUA" userId="7798602da82a403b" providerId="LiveId" clId="{8DDD3119-D66A-4929-8517-2587BAD1863A}" dt="2026-07-06T10:40:57.248" v="3533" actId="20577"/>
          <ac:spMkLst>
            <pc:docMk/>
            <pc:sldMk cId="1086364619" sldId="292"/>
            <ac:spMk id="2" creationId="{82981D9B-28F7-8675-FA10-4A250AAFCC41}"/>
          </ac:spMkLst>
        </pc:spChg>
        <pc:picChg chg="add mod">
          <ac:chgData name="SAMIRAN PARUA" userId="7798602da82a403b" providerId="LiveId" clId="{8DDD3119-D66A-4929-8517-2587BAD1863A}" dt="2026-07-06T10:39:34.711" v="3500" actId="14100"/>
          <ac:picMkLst>
            <pc:docMk/>
            <pc:sldMk cId="1086364619" sldId="292"/>
            <ac:picMk id="4" creationId="{B85235B7-AF95-0787-A536-0BF69B418AAB}"/>
          </ac:picMkLst>
        </pc:picChg>
      </pc:sldChg>
      <pc:sldChg chg="addSp modSp new mod">
        <pc:chgData name="SAMIRAN PARUA" userId="7798602da82a403b" providerId="LiveId" clId="{8DDD3119-D66A-4929-8517-2587BAD1863A}" dt="2026-07-06T10:41:02.938" v="3547" actId="20577"/>
        <pc:sldMkLst>
          <pc:docMk/>
          <pc:sldMk cId="2547097981" sldId="293"/>
        </pc:sldMkLst>
        <pc:spChg chg="mod">
          <ac:chgData name="SAMIRAN PARUA" userId="7798602da82a403b" providerId="LiveId" clId="{8DDD3119-D66A-4929-8517-2587BAD1863A}" dt="2026-07-06T10:41:02.938" v="3547" actId="20577"/>
          <ac:spMkLst>
            <pc:docMk/>
            <pc:sldMk cId="2547097981" sldId="293"/>
            <ac:spMk id="2" creationId="{9B2345C4-B285-A9AA-C7BE-C81D65D897C2}"/>
          </ac:spMkLst>
        </pc:spChg>
        <pc:picChg chg="add mod">
          <ac:chgData name="SAMIRAN PARUA" userId="7798602da82a403b" providerId="LiveId" clId="{8DDD3119-D66A-4929-8517-2587BAD1863A}" dt="2026-07-06T10:40:29.185" v="3505" actId="14100"/>
          <ac:picMkLst>
            <pc:docMk/>
            <pc:sldMk cId="2547097981" sldId="293"/>
            <ac:picMk id="4" creationId="{7AA569AC-F7E9-603A-975A-DDF608BB9DE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09619-5E74-4F69-BB7C-5165DDE0510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5D4B6-B980-4FCF-AABE-A091258E1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56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94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66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NIFTY 500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54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52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3F363-4B7B-60D9-F913-B758BD6F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EB184-E715-7708-F82C-168AB42C0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5D00F1-F8D0-F1BE-1ADE-7D136639A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B2E46-88B3-35A0-E7D1-F487D6708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55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20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Calendar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42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Modeling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60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78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72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09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72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201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D4B6-B980-4FCF-AABE-A091258E1E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60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8B1A-1063-46CA-90F6-5C46EE3A53D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1324-3C50-4646-99A7-328106F8847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116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8B1A-1063-46CA-90F6-5C46EE3A53D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1324-3C50-4646-99A7-328106F88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32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8B1A-1063-46CA-90F6-5C46EE3A53D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1324-3C50-4646-99A7-328106F8847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901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8B1A-1063-46CA-90F6-5C46EE3A53D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1324-3C50-4646-99A7-328106F88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0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8B1A-1063-46CA-90F6-5C46EE3A53D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1324-3C50-4646-99A7-328106F88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38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8B1A-1063-46CA-90F6-5C46EE3A53D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1324-3C50-4646-99A7-328106F88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36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8B1A-1063-46CA-90F6-5C46EE3A53D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1324-3C50-4646-99A7-328106F88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3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A0C8B1A-1063-46CA-90F6-5C46EE3A53D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121324-3C50-4646-99A7-328106F88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9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8B1A-1063-46CA-90F6-5C46EE3A53D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1324-3C50-4646-99A7-328106F88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86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8B1A-1063-46CA-90F6-5C46EE3A53D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1324-3C50-4646-99A7-328106F88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95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8B1A-1063-46CA-90F6-5C46EE3A53D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21324-3C50-4646-99A7-328106F88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1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A0C8B1A-1063-46CA-90F6-5C46EE3A53D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5121324-3C50-4646-99A7-328106F88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97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24890-D8ED-B068-C273-8CD9DF228F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NIFTY 500 Market Performance Analysis Using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3D939-97A6-A98C-E3E1-F5A7A401B1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HISTORICAL </a:t>
            </a:r>
            <a:r>
              <a:rPr lang="en-US" dirty="0" err="1"/>
              <a:t>AnalySIS</a:t>
            </a:r>
            <a:r>
              <a:rPr lang="en-US" dirty="0"/>
              <a:t> OF NIFTY 500 (2000-2025)</a:t>
            </a:r>
          </a:p>
          <a:p>
            <a:r>
              <a:rPr lang="en-US" dirty="0" err="1"/>
              <a:t>PrePARed</a:t>
            </a:r>
            <a:r>
              <a:rPr lang="en-US" dirty="0"/>
              <a:t> by- Dipanjan Pramanik (AF05201379)</a:t>
            </a:r>
          </a:p>
        </p:txBody>
      </p:sp>
    </p:spTree>
    <p:extLst>
      <p:ext uri="{BB962C8B-B14F-4D97-AF65-F5344CB8AC3E}">
        <p14:creationId xmlns:p14="http://schemas.microsoft.com/office/powerpoint/2010/main" val="3816259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8F75E-65BB-79A7-447D-E39DF00B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EF2E1-4F8C-917D-2E4E-AF3169988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Project Objective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Dashboard Overview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Data Cleaning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Calendar Table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Data Modeling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DAX Measures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Dashboard Overview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KPI Cards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Chart 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Key Business Insights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Conclusion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Future Scope</a:t>
            </a:r>
          </a:p>
        </p:txBody>
      </p:sp>
    </p:spTree>
    <p:extLst>
      <p:ext uri="{BB962C8B-B14F-4D97-AF65-F5344CB8AC3E}">
        <p14:creationId xmlns:p14="http://schemas.microsoft.com/office/powerpoint/2010/main" val="268018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4A66-5926-A1AA-E465-32E47335B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NIFTY 500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6A700-B40E-6C61-B3C9-B3DD95285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b="1" dirty="0"/>
              <a:t>What is NIFTY 500 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NIFTY 500 is one of the major stock market indices in India.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It contains the top 500 companies listed on the National Stock Exchange (NSE).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It represents almost the entire Indian equity market.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Investors use it to understand the overall performance of the Indian Stock Market.</a:t>
            </a:r>
          </a:p>
          <a:p>
            <a:endParaRPr lang="en-US" dirty="0"/>
          </a:p>
          <a:p>
            <a:r>
              <a:rPr lang="en-US" b="1" dirty="0"/>
              <a:t>Why did I choose this project 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Real financial dataset.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Large historical dataset.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Suitable for Power BI.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Demonstrates analytical skills.</a:t>
            </a:r>
          </a:p>
        </p:txBody>
      </p:sp>
    </p:spTree>
    <p:extLst>
      <p:ext uri="{BB962C8B-B14F-4D97-AF65-F5344CB8AC3E}">
        <p14:creationId xmlns:p14="http://schemas.microsoft.com/office/powerpoint/2010/main" val="32056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86727-2A20-89FB-FB91-C353205D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AA74B-ABD6-E158-B71C-83C4BA4FD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b="1" dirty="0"/>
              <a:t>Objective</a:t>
            </a:r>
          </a:p>
          <a:p>
            <a:r>
              <a:rPr lang="en-US" dirty="0"/>
              <a:t>The main objective of this project is to transform raw historical stock market data into an interactive dashboard that helps users analyze market performance.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Goals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Analyze market trends.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Compare Year-wise performance.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Compare Month-wise performance.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Study trading activity.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Build an interactive dashboard.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19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AC256-BE30-C193-948B-69782F4E5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AEF1-4C17-6ED5-6CE3-C942DFA2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238E7-B0C0-542F-DA3F-47BA2FC97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Source – National Stock Exchange</a:t>
            </a:r>
          </a:p>
          <a:p>
            <a:r>
              <a:rPr lang="en-US" dirty="0"/>
              <a:t>Duration – 2000-2025</a:t>
            </a:r>
          </a:p>
          <a:p>
            <a:r>
              <a:rPr lang="en-US" dirty="0"/>
              <a:t>Files – 25 CSV Files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Columns Used -</a:t>
            </a:r>
          </a:p>
          <a:p>
            <a:r>
              <a:rPr lang="en-US" b="1" dirty="0"/>
              <a:t>Column	</a:t>
            </a:r>
            <a:r>
              <a:rPr lang="en-US" dirty="0"/>
              <a:t>	</a:t>
            </a:r>
            <a:r>
              <a:rPr lang="en-US" b="1" dirty="0"/>
              <a:t>Description</a:t>
            </a:r>
          </a:p>
          <a:p>
            <a:r>
              <a:rPr lang="en-US" dirty="0"/>
              <a:t>Date		Trading Date</a:t>
            </a:r>
          </a:p>
          <a:p>
            <a:r>
              <a:rPr lang="en-US" dirty="0"/>
              <a:t>Open		Opening Price</a:t>
            </a:r>
          </a:p>
          <a:p>
            <a:r>
              <a:rPr lang="en-US" dirty="0"/>
              <a:t>High		Highest Price</a:t>
            </a:r>
          </a:p>
          <a:p>
            <a:r>
              <a:rPr lang="en-US" dirty="0"/>
              <a:t>Low		Lowest Price</a:t>
            </a:r>
          </a:p>
          <a:p>
            <a:r>
              <a:rPr lang="en-US" dirty="0"/>
              <a:t>Close		Closing Price</a:t>
            </a:r>
          </a:p>
          <a:p>
            <a:r>
              <a:rPr lang="en-US" dirty="0"/>
              <a:t>Shares Traded	Trading Volume</a:t>
            </a:r>
          </a:p>
          <a:p>
            <a:r>
              <a:rPr lang="en-US" dirty="0"/>
              <a:t>Turnover	Total Trading Value</a:t>
            </a:r>
          </a:p>
        </p:txBody>
      </p:sp>
    </p:spTree>
    <p:extLst>
      <p:ext uri="{BB962C8B-B14F-4D97-AF65-F5344CB8AC3E}">
        <p14:creationId xmlns:p14="http://schemas.microsoft.com/office/powerpoint/2010/main" val="942248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1FA7-B87A-592D-D02B-D7B35F526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(Power Query)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20774-45BB-37C3-D096-0F2BF44B9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b="1" dirty="0"/>
              <a:t>Data Cleaning</a:t>
            </a:r>
          </a:p>
          <a:p>
            <a:r>
              <a:rPr lang="en-US" dirty="0"/>
              <a:t>Performed using Power Query</a:t>
            </a:r>
          </a:p>
          <a:p>
            <a:r>
              <a:rPr lang="en-US" b="1" dirty="0"/>
              <a:t>Why did I clean the Data ?</a:t>
            </a:r>
          </a:p>
          <a:p>
            <a:r>
              <a:rPr lang="en-US" dirty="0"/>
              <a:t>I cleaned the data to ensure accurate analysis, improve dashboard performance, and create reliable visualizations in Power BI.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Imported 25 CSV files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Combined into one dataset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Removed errors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Checked missing values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Converted data types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Renamed columns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805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39CE9-E8A1-C6ED-0BD0-B1DA1066C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Applied steps in Power Query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8D07D6-B9B9-A3B6-025B-E23702D64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440" y="1905000"/>
            <a:ext cx="8153400" cy="433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1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EB84-1F7A-D9AC-42FA-377AD5680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Create a Calendar Table?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FB4F9-2406-DB6C-DDC8-B14456915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b="1" dirty="0"/>
              <a:t>Why did I create a Calendar Table ?</a:t>
            </a:r>
          </a:p>
          <a:p>
            <a:r>
              <a:rPr lang="en-US" dirty="0"/>
              <a:t>A Calendar table helps organize dates for efficient tie-based analysis and follows Power BI best practices.</a:t>
            </a:r>
          </a:p>
          <a:p>
            <a:r>
              <a:rPr lang="en-US" b="1" dirty="0"/>
              <a:t>Created Columns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Date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Year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Month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Month Number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Quarter </a:t>
            </a:r>
          </a:p>
          <a:p>
            <a:r>
              <a:rPr lang="en-US" b="1" dirty="0"/>
              <a:t>Benefits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Easy filtering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Better time analysis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Professional data model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Better DAX calculations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09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E1B3A-930B-973E-99CD-C226498D6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53384-A206-CB66-CCF5-CB8BE9EC8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b="1" dirty="0"/>
              <a:t>This project follows a Star Schema</a:t>
            </a:r>
          </a:p>
          <a:p>
            <a:r>
              <a:rPr lang="en-US" dirty="0"/>
              <a:t>        Calendar</a:t>
            </a:r>
          </a:p>
          <a:p>
            <a:r>
              <a:rPr lang="en-US" dirty="0"/>
              <a:t>                │</a:t>
            </a:r>
          </a:p>
          <a:p>
            <a:r>
              <a:rPr lang="en-US" dirty="0"/>
              <a:t>               ▼</a:t>
            </a:r>
          </a:p>
          <a:p>
            <a:r>
              <a:rPr lang="en-US" dirty="0"/>
              <a:t>           Nifty500</a:t>
            </a:r>
          </a:p>
          <a:p>
            <a:r>
              <a:rPr lang="en-US" b="1" dirty="0"/>
              <a:t>Relationship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One-to-Many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Single Cross Filter Direction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Active Relationship</a:t>
            </a:r>
          </a:p>
          <a:p>
            <a:pPr marL="0" indent="0">
              <a:buNone/>
            </a:pPr>
            <a:r>
              <a:rPr lang="en-US" b="1" dirty="0"/>
              <a:t>Why did I use Star Schema ?</a:t>
            </a:r>
          </a:p>
          <a:p>
            <a:pPr marL="0" indent="0">
              <a:buNone/>
            </a:pPr>
            <a:r>
              <a:rPr lang="en-US" dirty="0"/>
              <a:t>Star Schema organizes data efficiently, improves report performance, and makes filtering and time-based analysis easier in Power BI.</a:t>
            </a:r>
          </a:p>
        </p:txBody>
      </p:sp>
    </p:spTree>
    <p:extLst>
      <p:ext uri="{BB962C8B-B14F-4D97-AF65-F5344CB8AC3E}">
        <p14:creationId xmlns:p14="http://schemas.microsoft.com/office/powerpoint/2010/main" val="149538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E4693-3686-418D-3EC7-AF6600EF9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373511-CD2D-B5DA-6D87-3F5644B7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930" y="2026920"/>
            <a:ext cx="8314140" cy="417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47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3915-C8D1-BC27-C182-4138AE8D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1CB73-92DC-CD89-DC9B-0325E6514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b="1" dirty="0"/>
              <a:t>Measure</a:t>
            </a:r>
          </a:p>
          <a:p>
            <a:r>
              <a:rPr lang="en-US" dirty="0"/>
              <a:t>Highest Close</a:t>
            </a:r>
          </a:p>
          <a:p>
            <a:r>
              <a:rPr lang="en-US" dirty="0"/>
              <a:t>Lowest Close</a:t>
            </a:r>
          </a:p>
          <a:p>
            <a:r>
              <a:rPr lang="en-US" dirty="0"/>
              <a:t>Average Close</a:t>
            </a:r>
          </a:p>
          <a:p>
            <a:r>
              <a:rPr lang="en-US" dirty="0"/>
              <a:t>Total Turnover</a:t>
            </a:r>
          </a:p>
          <a:p>
            <a:r>
              <a:rPr lang="en-US" dirty="0"/>
              <a:t>Total Shares Traded</a:t>
            </a:r>
          </a:p>
          <a:p>
            <a:r>
              <a:rPr lang="en-US" dirty="0"/>
              <a:t>Dashboard Title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Formula</a:t>
            </a:r>
          </a:p>
          <a:p>
            <a:r>
              <a:rPr lang="en-US" dirty="0"/>
              <a:t>MAX()</a:t>
            </a:r>
          </a:p>
          <a:p>
            <a:r>
              <a:rPr lang="en-US" dirty="0"/>
              <a:t>MIN()</a:t>
            </a:r>
          </a:p>
          <a:p>
            <a:r>
              <a:rPr lang="en-US" dirty="0"/>
              <a:t>AVERAGE()</a:t>
            </a:r>
          </a:p>
          <a:p>
            <a:r>
              <a:rPr lang="en-US" dirty="0"/>
              <a:t>SUM()</a:t>
            </a:r>
          </a:p>
          <a:p>
            <a:r>
              <a:rPr lang="en-US" dirty="0"/>
              <a:t>SUM()</a:t>
            </a:r>
          </a:p>
          <a:p>
            <a:r>
              <a:rPr lang="en-US" dirty="0"/>
              <a:t>Dynamic Title</a:t>
            </a:r>
          </a:p>
        </p:txBody>
      </p:sp>
    </p:spTree>
    <p:extLst>
      <p:ext uri="{BB962C8B-B14F-4D97-AF65-F5344CB8AC3E}">
        <p14:creationId xmlns:p14="http://schemas.microsoft.com/office/powerpoint/2010/main" val="1373582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6B5B-7103-77B2-4E8A-D6810C9F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Measures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0D250-492D-36CF-5038-2CE4FCDFD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608" y="1935480"/>
            <a:ext cx="3150991" cy="424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686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6A888-65B1-1824-B197-5E522134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BA869-F527-9F84-8322-1D729000A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Dashboard contains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KPI Cards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Slicers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Charts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Interactive Filtering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Dynamic Title</a:t>
            </a:r>
          </a:p>
        </p:txBody>
      </p:sp>
    </p:spTree>
    <p:extLst>
      <p:ext uri="{BB962C8B-B14F-4D97-AF65-F5344CB8AC3E}">
        <p14:creationId xmlns:p14="http://schemas.microsoft.com/office/powerpoint/2010/main" val="1493547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CA01-78C5-B347-23A5-E4951DC6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0DDC2-13A7-9756-AE13-1B883DC08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588" y="1874520"/>
            <a:ext cx="10188823" cy="441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865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3A99D-785E-5CB7-CCD4-8C8D05E84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857CF-1315-D5A7-3E11-749F2552F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b="1" dirty="0"/>
              <a:t>Dynamic Title</a:t>
            </a:r>
          </a:p>
          <a:p>
            <a:r>
              <a:rPr lang="en-US" dirty="0"/>
              <a:t>Changes automatically based 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Year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Month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Quarter</a:t>
            </a:r>
          </a:p>
          <a:p>
            <a:r>
              <a:rPr lang="en-US" b="1" dirty="0"/>
              <a:t>Slicers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Year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Month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Quarter</a:t>
            </a:r>
          </a:p>
          <a:p>
            <a:r>
              <a:rPr lang="en-US" b="1" dirty="0"/>
              <a:t>Why ?</a:t>
            </a:r>
          </a:p>
          <a:p>
            <a:r>
              <a:rPr lang="en-US" dirty="0"/>
              <a:t>Slicers allow users to interactively filter the dashboard without changing the original data.</a:t>
            </a:r>
          </a:p>
        </p:txBody>
      </p:sp>
    </p:spTree>
    <p:extLst>
      <p:ext uri="{BB962C8B-B14F-4D97-AF65-F5344CB8AC3E}">
        <p14:creationId xmlns:p14="http://schemas.microsoft.com/office/powerpoint/2010/main" val="29147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20B3-72CB-A04E-40AD-24AD1DF19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C77A9-792B-2D8B-58A9-9383DCBDE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B4E34-8370-3A6A-51D9-2C37897FC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0" y="2118360"/>
            <a:ext cx="9403080" cy="197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18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DE15-2BE0-4007-BAEB-460078EC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8FEB6-A65B-6AEE-CA23-ADE0677AC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b="1" dirty="0"/>
              <a:t>Highest Close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Shows the maximum closing price.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Identify the highest market level.</a:t>
            </a:r>
          </a:p>
          <a:p>
            <a:r>
              <a:rPr lang="en-US" b="1" dirty="0"/>
              <a:t>Lowest Close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Shows the minimum closing price.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Identify market downturns.</a:t>
            </a:r>
          </a:p>
          <a:p>
            <a:r>
              <a:rPr lang="en-US" b="1" dirty="0"/>
              <a:t>Average Closing Price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Shows the average market level.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Understand long-term market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  <a:p>
            <a:r>
              <a:rPr lang="en-US" b="1" dirty="0"/>
              <a:t>Total Turnover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Shows total value traded.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Measure market liquidity.</a:t>
            </a:r>
          </a:p>
          <a:p>
            <a:r>
              <a:rPr lang="en-US" b="1" dirty="0"/>
              <a:t>Total Shares Traded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Shows overall trading activity.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Understand market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2015156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EFA9C-8EC7-81A6-5F46-119AFA823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Cards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3AC253-AFF8-7138-69DC-3C5412E0C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477" y="2011680"/>
            <a:ext cx="10058400" cy="188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9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F4DB-FE60-D0D7-41DB-6D7DD76D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4A7F7-D66C-4CC4-4531-2BD76B5A0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b="1" dirty="0"/>
              <a:t>Shares Traded Trend</a:t>
            </a:r>
          </a:p>
          <a:p>
            <a:r>
              <a:rPr lang="en-US" b="1" dirty="0"/>
              <a:t>Why Line Chart ?</a:t>
            </a:r>
          </a:p>
          <a:p>
            <a:r>
              <a:rPr lang="en-US" dirty="0"/>
              <a:t>A line chart is best for showing changes over time.</a:t>
            </a:r>
          </a:p>
          <a:p>
            <a:r>
              <a:rPr lang="en-US" b="1" dirty="0"/>
              <a:t>What does it show ?</a:t>
            </a:r>
          </a:p>
          <a:p>
            <a:r>
              <a:rPr lang="en-US" dirty="0"/>
              <a:t>Shows how trading activity changed over the years.</a:t>
            </a:r>
          </a:p>
          <a:p>
            <a:r>
              <a:rPr lang="en-US" b="1" dirty="0"/>
              <a:t>Business Insight</a:t>
            </a:r>
          </a:p>
          <a:p>
            <a:r>
              <a:rPr lang="en-US" dirty="0"/>
              <a:t>Higher trading volume generally indicates greater investor participation.</a:t>
            </a:r>
          </a:p>
          <a:p>
            <a:r>
              <a:rPr lang="en-US" b="1" dirty="0"/>
              <a:t>Turnover Trend</a:t>
            </a:r>
          </a:p>
          <a:p>
            <a:r>
              <a:rPr lang="en-US" b="1" dirty="0"/>
              <a:t>Why Line Chart ?</a:t>
            </a:r>
          </a:p>
          <a:p>
            <a:r>
              <a:rPr lang="en-US" dirty="0"/>
              <a:t>Shows how total trading value changes over time.</a:t>
            </a:r>
          </a:p>
          <a:p>
            <a:r>
              <a:rPr lang="en-US" b="1" dirty="0"/>
              <a:t>Business Insight</a:t>
            </a:r>
          </a:p>
          <a:p>
            <a:r>
              <a:rPr lang="en-US" dirty="0"/>
              <a:t>Increasing turnover suggests increased market activity and liquidity.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521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8155-60A9-D054-5600-F699EB508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4A1511-582F-108D-836D-4C9B13D40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99" y="2514521"/>
            <a:ext cx="8308225" cy="333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657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B75FC-08C9-5DBD-926D-B8ABA9492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7746E-04C7-2A8F-9405-5515F8F33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11226"/>
          </a:xfrm>
        </p:spPr>
        <p:txBody>
          <a:bodyPr numCol="2">
            <a:normAutofit/>
          </a:bodyPr>
          <a:lstStyle/>
          <a:p>
            <a:r>
              <a:rPr lang="en-US" b="1" dirty="0"/>
              <a:t>Monthly Average Opening vs Closing Price</a:t>
            </a:r>
          </a:p>
          <a:p>
            <a:r>
              <a:rPr lang="en-US" b="1" dirty="0"/>
              <a:t>Why Line Chart?</a:t>
            </a:r>
          </a:p>
          <a:p>
            <a:r>
              <a:rPr lang="en-US" dirty="0"/>
              <a:t>A line chart clearly compares two related measures over time.</a:t>
            </a:r>
          </a:p>
          <a:p>
            <a:r>
              <a:rPr lang="en-US" b="1" dirty="0"/>
              <a:t>Measures Used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Average Opening Price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Average Closing Price </a:t>
            </a:r>
          </a:p>
          <a:p>
            <a:r>
              <a:rPr lang="en-US" b="1" dirty="0"/>
              <a:t>What does it show?</a:t>
            </a:r>
          </a:p>
          <a:p>
            <a:r>
              <a:rPr lang="en-US" dirty="0"/>
              <a:t>Compares the average opening and closing prices for each month.</a:t>
            </a:r>
          </a:p>
          <a:p>
            <a:r>
              <a:rPr lang="en-US" b="1" dirty="0"/>
              <a:t>Business Insight</a:t>
            </a:r>
          </a:p>
          <a:p>
            <a:r>
              <a:rPr lang="en-US" dirty="0"/>
              <a:t>Helps identify whether the market generally closed above or below its opening value during different months.</a:t>
            </a:r>
          </a:p>
          <a:p>
            <a:r>
              <a:rPr lang="en-US" b="1" dirty="0"/>
              <a:t>Month-wise Performance</a:t>
            </a:r>
          </a:p>
          <a:p>
            <a:r>
              <a:rPr lang="en-US" b="1" dirty="0"/>
              <a:t>Why Column Chart?</a:t>
            </a:r>
          </a:p>
          <a:p>
            <a:r>
              <a:rPr lang="en-US" dirty="0"/>
              <a:t>Column charts make comparisons between categories easier.</a:t>
            </a:r>
          </a:p>
          <a:p>
            <a:r>
              <a:rPr lang="en-US" b="1" dirty="0"/>
              <a:t>Business Insight</a:t>
            </a:r>
          </a:p>
          <a:p>
            <a:r>
              <a:rPr lang="en-US" dirty="0"/>
              <a:t>Shows seasonal changes in average closing prices across months.</a:t>
            </a:r>
          </a:p>
        </p:txBody>
      </p:sp>
    </p:spTree>
    <p:extLst>
      <p:ext uri="{BB962C8B-B14F-4D97-AF65-F5344CB8AC3E}">
        <p14:creationId xmlns:p14="http://schemas.microsoft.com/office/powerpoint/2010/main" val="907294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1D9B-28F7-8675-FA10-4A250AAFC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235B7-AF95-0787-A536-0BF69B418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2" y="1875820"/>
            <a:ext cx="4487159" cy="435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364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4D05-EC1D-F114-82E9-6C36C7B58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6587A-B6D4-9D13-D51C-0BA4CD162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b="1" dirty="0"/>
              <a:t>Closing Price Trend</a:t>
            </a:r>
          </a:p>
          <a:p>
            <a:r>
              <a:rPr lang="en-US" b="1" dirty="0"/>
              <a:t>Why Line Chart?</a:t>
            </a:r>
          </a:p>
          <a:p>
            <a:r>
              <a:rPr lang="en-US" dirty="0"/>
              <a:t>Shows long-term trends effectively.</a:t>
            </a:r>
          </a:p>
          <a:p>
            <a:r>
              <a:rPr lang="en-US" b="1" dirty="0"/>
              <a:t>Business Insight</a:t>
            </a:r>
          </a:p>
          <a:p>
            <a:r>
              <a:rPr lang="en-US" dirty="0"/>
              <a:t>Illustrates the long-term growth of the NIFTY 500 over the years.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Year-wise Performance</a:t>
            </a:r>
          </a:p>
          <a:p>
            <a:r>
              <a:rPr lang="en-US" b="1" dirty="0"/>
              <a:t>Why Column Chart?</a:t>
            </a:r>
          </a:p>
          <a:p>
            <a:r>
              <a:rPr lang="en-US" dirty="0"/>
              <a:t>Compares yearly average closing prices.</a:t>
            </a:r>
          </a:p>
          <a:p>
            <a:r>
              <a:rPr lang="en-US" b="1" dirty="0"/>
              <a:t>Business Insight</a:t>
            </a:r>
          </a:p>
          <a:p>
            <a:r>
              <a:rPr lang="en-US" dirty="0"/>
              <a:t>Highlights which years experienced stronger market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661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45C4-B285-A9AA-C7BE-C81D65D89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A569AC-F7E9-603A-975A-DDF608BB9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560244"/>
            <a:ext cx="10058400" cy="341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97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E21D4-53E8-A3A1-419E-E1DFDA298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A8F72-C41C-D87B-491D-F343F9BE5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The NIFTY 500 shows a strong long-term upward trend.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Trading volume increased significantly after 2020.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Turnover also increased, indicating higher market participation.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Average closing prices generally rose over time.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Interactive filters allow easy comparison across years, quarters, and months.</a:t>
            </a:r>
          </a:p>
        </p:txBody>
      </p:sp>
    </p:spTree>
    <p:extLst>
      <p:ext uri="{BB962C8B-B14F-4D97-AF65-F5344CB8AC3E}">
        <p14:creationId xmlns:p14="http://schemas.microsoft.com/office/powerpoint/2010/main" val="3088589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3AA7C-0AFB-48D9-5B79-30C4E36C0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1B7DB-34A8-F19E-04F2-05DF37C8E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b="1" dirty="0"/>
              <a:t>This project demonstrates the complete Power BI workflow: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Data Import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Data Cleaning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Data Modeling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Calendar Table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DAX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Dashboard Design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Business Analysis</a:t>
            </a:r>
          </a:p>
          <a:p>
            <a:r>
              <a:rPr lang="en-US" b="1" dirty="0"/>
              <a:t>Skills Learned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Power Query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DAX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Data Modeling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Power BI Visualization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Dashboard Design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Business Storytelling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513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3A0C-FF93-4ADB-9F3B-B5C772989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6638D-548A-6326-099E-C602C0B94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Possible improvements: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Add live NSE API data.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Add moving averages and other technical indicators.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Create drill-through pages.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Add forecast visuals.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Compare NIFTY 500 with other indices such as NIFTY 50 or Sensex.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Add mobile-friendly dashboard layout.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96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2E72B-FD6C-D7EF-D0D8-ACFC58CF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B62DF-0F70-78ED-6891-9D416E8FE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Data Source</a:t>
            </a:r>
          </a:p>
          <a:p>
            <a:r>
              <a:rPr lang="en-US" b="1" dirty="0"/>
              <a:t>National Stock Exchange (NSE) – Historical NIFTY 500 Data (2000–2024)</a:t>
            </a:r>
            <a:endParaRPr lang="en-US" dirty="0"/>
          </a:p>
          <a:p>
            <a:r>
              <a:rPr lang="en-US" b="1" dirty="0"/>
              <a:t>Tools Used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Microsoft Power BI Desktop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Power Query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DAX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ChatGPT (for making dynamic dashboard title)</a:t>
            </a:r>
          </a:p>
          <a:p>
            <a:r>
              <a:rPr lang="en-US" b="1" dirty="0"/>
              <a:t>Courtesy</a:t>
            </a:r>
          </a:p>
          <a:p>
            <a:r>
              <a:rPr lang="en-US" dirty="0"/>
              <a:t>Historical market data provided by the National Stock Exchange (NSE). This dashboard was developed for educational and portfolio purposes only.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865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A6DB50-1F91-357D-BBD6-73D5AAC7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268" y="2190817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9600" dirty="0">
                <a:latin typeface="Brush Script MT" panose="03060802040406070304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847467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1345</TotalTime>
  <Words>1096</Words>
  <Application>Microsoft Office PowerPoint</Application>
  <PresentationFormat>Widescreen</PresentationFormat>
  <Paragraphs>276</Paragraphs>
  <Slides>29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Brush Script MT</vt:lpstr>
      <vt:lpstr>Calibri</vt:lpstr>
      <vt:lpstr>Calibri Light</vt:lpstr>
      <vt:lpstr>Wingdings</vt:lpstr>
      <vt:lpstr>Retrospect</vt:lpstr>
      <vt:lpstr>NIFTY 500 Market Performance Analysis Using Power BI</vt:lpstr>
      <vt:lpstr>Today’s Presentation</vt:lpstr>
      <vt:lpstr>About NIFTY 500</vt:lpstr>
      <vt:lpstr>Project Objective</vt:lpstr>
      <vt:lpstr>Dataset Overview</vt:lpstr>
      <vt:lpstr>Data Cleaning (Power Query)</vt:lpstr>
      <vt:lpstr>Applied steps in Power Query</vt:lpstr>
      <vt:lpstr>Why Create a Calendar Table?</vt:lpstr>
      <vt:lpstr>Data Modeling</vt:lpstr>
      <vt:lpstr>Data Modeling</vt:lpstr>
      <vt:lpstr>DAX Measures</vt:lpstr>
      <vt:lpstr>DAX Measures</vt:lpstr>
      <vt:lpstr>Dashboard Overview</vt:lpstr>
      <vt:lpstr>Dashboard Overview</vt:lpstr>
      <vt:lpstr>Dashboard Features</vt:lpstr>
      <vt:lpstr>Dashboard Features</vt:lpstr>
      <vt:lpstr>KPI Cards</vt:lpstr>
      <vt:lpstr>KPI Cards</vt:lpstr>
      <vt:lpstr>Chart Analysis</vt:lpstr>
      <vt:lpstr>Chart Analysis</vt:lpstr>
      <vt:lpstr>Chart Analysis</vt:lpstr>
      <vt:lpstr>Chart Analysis</vt:lpstr>
      <vt:lpstr>Chart Analysis</vt:lpstr>
      <vt:lpstr>Chart Analysis</vt:lpstr>
      <vt:lpstr>Key Business Insights</vt:lpstr>
      <vt:lpstr>Conclusion</vt:lpstr>
      <vt:lpstr>Future Scope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SAMIRAN PARUA</dc:creator>
  <cp:lastModifiedBy>SAMIRAN PARUA</cp:lastModifiedBy>
  <cp:revision>2</cp:revision>
  <dcterms:created xsi:type="dcterms:W3CDTF">2026-06-29T18:25:03Z</dcterms:created>
  <dcterms:modified xsi:type="dcterms:W3CDTF">2026-07-06T10:44:11Z</dcterms:modified>
</cp:coreProperties>
</file>